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840480" cy="3840480"/>
          </a:xfrm>
          <a:prstGeom prst="ellipse">
            <a:avLst/>
          </a:prstGeom>
          <a:solidFill>
            <a:srgbClr val="3FBFA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FBFA6"/>
                </a:solidFill>
              </a:rPr>
              <a:t>METHODOLOGY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How the System Was Designed, Simulated, Built, and Validated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</a:rPr>
              <a:t>Wearable Wrist Rehabilitation Using Dual-Channel FES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</a:rPr>
              <a:t>01  ·  OVERVIEW OF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A Five-Stage 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103120" cy="33832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99032" y="1764792"/>
            <a:ext cx="402336" cy="40233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1399032" y="1764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07592" y="228600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8044" y="2426452"/>
            <a:ext cx="304312" cy="304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063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Compare options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3657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Evaluate motor, SEA, pneumatic, and FES against weight, cost, complexity.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670048" y="3657600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816352" y="1965960"/>
            <a:ext cx="2103120" cy="33832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66744" y="1764792"/>
            <a:ext cx="402336" cy="40233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4" name="Text 11"/>
          <p:cNvSpPr/>
          <p:nvPr/>
        </p:nvSpPr>
        <p:spPr>
          <a:xfrm>
            <a:off x="3666744" y="1764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575304" y="228600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756" y="2426452"/>
            <a:ext cx="304312" cy="3043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53512" y="3063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Select FES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953512" y="3657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Chosen for being lightweight, low-cost, no mechanical actuator.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937760" y="3657600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5084064" y="1965960"/>
            <a:ext cx="2103120" cy="33832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934456" y="1764792"/>
            <a:ext cx="402336" cy="40233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2" name="Text 18"/>
          <p:cNvSpPr/>
          <p:nvPr/>
        </p:nvSpPr>
        <p:spPr>
          <a:xfrm>
            <a:off x="5934456" y="1764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843016" y="228600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3468" y="2426452"/>
            <a:ext cx="304312" cy="30431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21224" y="3063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Simulate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5221224" y="3657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Model grip-then-rotate logic in MATLAB as a finite-state machine.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7205472" y="3657600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7351776" y="1965960"/>
            <a:ext cx="2103120" cy="33832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8202168" y="1764792"/>
            <a:ext cx="402336" cy="40233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0" name="Text 25"/>
          <p:cNvSpPr/>
          <p:nvPr/>
        </p:nvSpPr>
        <p:spPr>
          <a:xfrm>
            <a:off x="8202168" y="1764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8110728" y="228600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1180" y="2426452"/>
            <a:ext cx="304312" cy="30431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88936" y="3063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Implement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7488936" y="3657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Port validated logic to ESP32 firmware; integrate sensors &amp; FES.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9473184" y="3657600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6" name="Shape 30"/>
          <p:cNvSpPr/>
          <p:nvPr/>
        </p:nvSpPr>
        <p:spPr>
          <a:xfrm>
            <a:off x="9619488" y="1965960"/>
            <a:ext cx="2103120" cy="33832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10469880" y="1764792"/>
            <a:ext cx="402336" cy="40233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8" name="Text 32"/>
          <p:cNvSpPr/>
          <p:nvPr/>
        </p:nvSpPr>
        <p:spPr>
          <a:xfrm>
            <a:off x="10469880" y="1764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9" name="Shape 33"/>
          <p:cNvSpPr/>
          <p:nvPr/>
        </p:nvSpPr>
        <p:spPr>
          <a:xfrm>
            <a:off x="10378440" y="228600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8892" y="2426452"/>
            <a:ext cx="304312" cy="304312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756648" y="3063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Validate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9756648" y="3657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Structured self-wear testing across defined movement scenarios.</a:t>
            </a:r>
            <a:endParaRPr lang="en-US" sz="1050" dirty="0"/>
          </a:p>
        </p:txBody>
      </p:sp>
      <p:sp>
        <p:nvSpPr>
          <p:cNvPr id="43" name="Text 36"/>
          <p:cNvSpPr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B3D5C"/>
                </a:solidFill>
              </a:rPr>
              <a:t>Actuator comparison ran in parallel with system planning; simulation preceded hardware to reduce debugging risk.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</a:rPr>
              <a:t>02  ·  ACTUATOR COMPARISON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Four Alternatives Evaluated Against FES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1554480"/>
                <a:gridCol w="2286000"/>
                <a:gridCol w="31089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Actuator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Weight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Complexity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Electric motor / servo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High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Moderate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Moderate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9B2C2C"/>
                          </a:solidFill>
                        </a:rPr>
                        <a:t>Rejected — adds mass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Pneumatic (PAM)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Moderate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Moderate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High (compressor)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9B2C2C"/>
                          </a:solidFill>
                        </a:rPr>
                        <a:t>Rejected — needs air supply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Series elastic actuator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Moderate–High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High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High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9B2C2C"/>
                          </a:solidFill>
                        </a:rPr>
                        <a:t>Rejected — costly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Hydraulic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High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High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High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9B2C2C"/>
                          </a:solidFill>
                        </a:rPr>
                        <a:t>Rejected — impractical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</a:rPr>
                        <a:t>FES (proposed)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Minimal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Low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Low–Moderate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6E56"/>
                          </a:solidFill>
                        </a:rPr>
                        <a:t>Selected — no actuator needed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7F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B3D5C"/>
                </a:solidFill>
              </a:rPr>
              <a:t>FES eliminates the need for any mechanical actuator — stimulation is delivered directly to the patient's own muscle tissue.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</a:rPr>
              <a:t>03  ·  SYSTEM DESIGN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</a:rPr>
              <a:t>Two Physical Units, Connected by a Wired Harness</a:t>
            </a:r>
            <a:endParaRPr lang="en-US" sz="2500" dirty="0"/>
          </a:p>
        </p:txBody>
      </p:sp>
      <p:pic>
        <p:nvPicPr>
          <p:cNvPr id="4" name="Image 0" descr="/home/claude/diagram1_wearable_lay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691640"/>
            <a:ext cx="86868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</a:rPr>
              <a:t>04  ·  SIMULATION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</a:rPr>
              <a:t>Two Functions Drive the Simulated Behaviour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17810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848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</a:rPr>
              <a:t>Exponential Approach (Motion)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Grip and rotation move toward target by closing a fixed % of the remaining gap each time step — a smooth, settling curve approximating real muscle response.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05740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81" y="217810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0848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</a:rPr>
              <a:t>Bang-Bang Trigger (Stimulation)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83680" y="26974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FES switches fully ON when a sensor reading falls below threshold, and OFF the instant threshold is crossed — closed-loop, but not proportional.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34340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0F172A"/>
          </a:solidFill>
          <a:ln/>
        </p:spPr>
      </p:sp>
      <p:sp>
        <p:nvSpPr>
          <p:cNvPr id="15" name="Text 11"/>
          <p:cNvSpPr/>
          <p:nvPr/>
        </p:nvSpPr>
        <p:spPr>
          <a:xfrm>
            <a:off x="822960" y="45262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grip_force &lt; grip_threshold: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activate FES Channel 1 (close hand)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grip_force ≥ grip_threshold AND rotation_angle &lt; angle_target: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activate FES Channel 2 (rotate forearm)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rotation_angle ≥ angle_target:  hold state → LED green (success)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</a:rPr>
              <a:t>05  ·  HARDWARE IMPLEMENTATION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Five-Step Build Order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4767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35" y="2070567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5C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508760" y="1892808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</a:rPr>
              <a:t>Sensor integration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663440" y="1892808"/>
            <a:ext cx="6766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Wire and calibrate the 5 FSR grip sensors and the IMU rotation sensor.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706624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282549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35" y="2948391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724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5C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508760" y="2770632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</a:rPr>
              <a:t>Driver &amp; feedback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663440" y="2770632"/>
            <a:ext cx="6766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Connect ULN2803A to drive vibration motors; wire the RGB LED.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584448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370332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35" y="3826215"/>
            <a:ext cx="266273" cy="26627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77240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5C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508760" y="3648456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</a:rPr>
              <a:t>Firmware logic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4663440" y="3648456"/>
            <a:ext cx="6766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Implement the validated finite-state machine on ESP32 firmware.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4462272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4581144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35" y="4704039"/>
            <a:ext cx="266273" cy="26627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7240" y="4370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5C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1508760" y="452628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</a:rPr>
              <a:t>FES integration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4663440" y="4526280"/>
            <a:ext cx="6766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Connect the medical-grade, isolated dual-channel stimulator to Ch.1 &amp; Ch.2 pads.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48640" y="5340096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35" y="5581863"/>
            <a:ext cx="266273" cy="26627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77240" y="5248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5C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1508760" y="5404104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</a:rPr>
              <a:t>System assembly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4663440" y="5404104"/>
            <a:ext cx="6766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Integrate all components into the glove and forearm-band housings.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BFA6"/>
                </a:solidFill>
              </a:rPr>
              <a:t>06  ·  VALIDATION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Structured Self-Wear Testing Across Five Scenarios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103120" cy="35661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307592" y="224028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8044" y="2380732"/>
            <a:ext cx="304312" cy="304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0175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Grip only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361188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Confirms FES Ch.1 triggers correctly on low FSR readings.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16352" y="1920240"/>
            <a:ext cx="2103120" cy="35661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3575304" y="224028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756" y="2380732"/>
            <a:ext cx="304312" cy="304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53512" y="30175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Rotation only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953512" y="361188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Confirms FES Ch.2 triggers correctly on low IMU readings.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84064" y="1920240"/>
            <a:ext cx="2103120" cy="35661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5843016" y="224028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3468" y="2380732"/>
            <a:ext cx="304312" cy="304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21224" y="30175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Combined sequence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221224" y="361188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Confirms correct grip-then-rotate phase ordering.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351776" y="1920240"/>
            <a:ext cx="2103120" cy="35661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8110728" y="224028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1180" y="2380732"/>
            <a:ext cx="304312" cy="304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88936" y="30175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Range of motion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88936" y="361188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Tested at 15°, 30°, 45°, 60° rotation targets.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619488" y="1920240"/>
            <a:ext cx="2103120" cy="35661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</p:sp>
      <p:sp>
        <p:nvSpPr>
          <p:cNvPr id="25" name="Shape 19"/>
          <p:cNvSpPr/>
          <p:nvPr/>
        </p:nvSpPr>
        <p:spPr>
          <a:xfrm>
            <a:off x="10378440" y="224028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8892" y="2380732"/>
            <a:ext cx="304312" cy="3043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56648" y="30175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Repeated trials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756648" y="361188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5–10 repetitions per team member for consistency.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</a:rPr>
              <a:t>Recorded per trial: FES activation success, comfort, electrode adhesion, and feedback accuracy.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Methodology — Wearable Wrist Rehabilitation Using Dual-Channel FES</dc:title>
  <dc:subject>PptxGenJS Presentation</dc:subject>
  <dc:creator>Vishnu Thaimachedath Nandakumar, Jeethu Thambi, Thadepalli Nikitha</dc:creator>
  <cp:lastModifiedBy>Vishnu Thaimachedath Nandakumar, Jeethu Thambi, Thadepalli Nikitha</cp:lastModifiedBy>
  <cp:revision>1</cp:revision>
  <dcterms:created xsi:type="dcterms:W3CDTF">2026-07-03T12:05:47Z</dcterms:created>
  <dcterms:modified xsi:type="dcterms:W3CDTF">2026-07-03T12:05:47Z</dcterms:modified>
</cp:coreProperties>
</file>